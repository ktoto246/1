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embeddedFontLst>
    <p:embeddedFont>
      <p:font typeface="Calibri" panose="020F0502020204030204"/>
      <p:regular r:id="rId13"/>
      <p:bold r:id="rId14"/>
      <p:italic r:id="rId15"/>
      <p:boldItalic r:id="rId16"/>
    </p:embeddedFont>
    <p:embeddedFont>
      <p:font typeface="Poppins" panose="00000500000000000000"/>
      <p:regular r:id="rId17"/>
      <p:italic r:id="rId18"/>
    </p:embeddedFont>
    <p:embeddedFont>
      <p:font typeface="Lato" panose="020F0502020204030203"/>
      <p:regular r:id="rId19"/>
      <p:bold r:id="rId20"/>
      <p:italic r:id="rId21"/>
      <p:boldItalic r:id="rId22"/>
    </p:embeddedFont>
    <p:embeddedFont>
      <p:font typeface="Poppins SemiBold" panose="0000050000000000000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01B84BC-93BE-4C97-86AC-F209B322F11C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108596" y="3900338"/>
            <a:ext cx="7974806" cy="149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09226" y="1462236"/>
            <a:ext cx="8373546" cy="16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Автоматизация расчета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</a:br>
            <a:r>
              <a:rPr lang="en-US" sz="4800" b="1" i="0" u="none" strike="noStrike" cap="none">
                <a:solidFill>
                  <a:srgbClr val="2563EB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себестоимости</a:t>
            </a:r>
            <a:r>
              <a:rPr lang="en-US" sz="4800" b="1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 продукции</a:t>
            </a:r>
            <a:endParaRPr lang="en-US" sz="4800" b="1" i="0" u="none" strike="noStrike" cap="none">
              <a:solidFill>
                <a:srgbClr val="1E293B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08596" y="2993677"/>
            <a:ext cx="797480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Разработка макета приложения базы данных предприятия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108596" y="4367063"/>
            <a:ext cx="3987403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РАЗРАБОТАЛ</a:t>
            </a:r>
            <a:endParaRPr lang="en-US" sz="1350" b="1" i="0" u="none" strike="noStrike" cap="none">
              <a:solidFill>
                <a:srgbClr val="94A3B8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108596" y="4850903"/>
            <a:ext cx="3987403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Шепелев К. Р., Группа ИП-31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096000" y="4367063"/>
            <a:ext cx="3987403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ПРОВЕРИЛ</a:t>
            </a:r>
            <a:endParaRPr lang="en-US" sz="1350" b="1" i="0" u="none" strike="noStrike" cap="none">
              <a:solidFill>
                <a:srgbClr val="94A3B8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096000" y="4850903"/>
            <a:ext cx="3987403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Назарова И. А.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310258"/>
            <a:ext cx="3359050" cy="3645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16325" y="2310258"/>
            <a:ext cx="3359199" cy="3645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1275" y="2310258"/>
            <a:ext cx="3359050" cy="3645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97599" y="3472308"/>
            <a:ext cx="27069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Цель проекта</a:t>
            </a:r>
            <a:endParaRPr lang="en-US" sz="1800" b="1" i="0" u="none" strike="noStrike" cap="none">
              <a:solidFill>
                <a:srgbClr val="1E293B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62050" y="4015233"/>
            <a:ext cx="2578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Создание системы для автоматизированного учета затрат и расчета себестоимости изделий.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742397" y="3472308"/>
            <a:ext cx="270705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Задачи</a:t>
            </a:r>
            <a:endParaRPr lang="en-US" sz="1800" b="1" i="0" u="none" strike="noStrike" cap="none">
              <a:solidFill>
                <a:srgbClr val="1E293B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806850" y="4015233"/>
            <a:ext cx="25781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Проектирование БД, разработка WPF интерфейса и внедрение алгоритмов расчета.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387350" y="3472308"/>
            <a:ext cx="27069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Надежность</a:t>
            </a:r>
            <a:endParaRPr lang="en-US" sz="1800" b="1" i="0" u="none" strike="noStrike" cap="none">
              <a:solidFill>
                <a:srgbClr val="1E293B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451800" y="4015233"/>
            <a:ext cx="2578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Обеспечение защиты данных и строгой ссылочной целостности всех таблиц.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222450" y="274840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10101" y="274840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512200" y="27484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Цели и задачи проекта</a:t>
            </a:r>
            <a:endParaRPr lang="en-US" sz="3150" b="0" i="0" u="none" strike="noStrike" cap="none">
              <a:solidFill>
                <a:srgbClr val="1E293B"/>
              </a:solidFill>
              <a:latin typeface="Times New Roman" panose="02020603050405020304" charset="0"/>
              <a:ea typeface="Poppins SemiBold" panose="00000500000000000000"/>
              <a:cs typeface="Times New Roman" panose="02020603050405020304" charset="0"/>
              <a:sym typeface="Poppins SemiBold" panose="00000500000000000000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247775" y="2986533"/>
            <a:ext cx="10172700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Исключение ошибок ручного счета в сложных многокомпонентных рецептурах.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247775" y="3559819"/>
            <a:ext cx="10172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Мгновенный пересчет цен всей линейки товаров при изменении стоимости сырья.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247775" y="4133105"/>
            <a:ext cx="10172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Централизованное хранение всех технологических карт и спецификаций в единой базе.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247775" y="4706391"/>
            <a:ext cx="10172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Повышение прозрачности ценообразования для руководства предприятия.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301987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359315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416644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473972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Актуальность проекта</a:t>
            </a:r>
            <a:endParaRPr lang="en-US" sz="3150" b="0" i="0" u="none" strike="noStrike" cap="none">
              <a:solidFill>
                <a:srgbClr val="1E293B"/>
              </a:solidFill>
              <a:latin typeface="Times New Roman" panose="02020603050405020304" charset="0"/>
              <a:ea typeface="Poppins SemiBold" panose="00000500000000000000"/>
              <a:cs typeface="Times New Roman" panose="02020603050405020304" charset="0"/>
              <a:sym typeface="Poppins SemiBold" panose="00000500000000000000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228105"/>
            <a:ext cx="5038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71525" y="2735014"/>
            <a:ext cx="5038725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Автоматизация охватывает полный цикл производственного учета:</a:t>
            </a:r>
            <a:endParaRPr lang="en-US" sz="16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91275" y="2237630"/>
            <a:ext cx="50196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247775" y="3691086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Регистрация сырья и мониторинг цен.</a:t>
            </a:r>
            <a:endParaRPr lang="en-US" sz="13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247775" y="4203501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Формирование состава продукции.</a:t>
            </a:r>
            <a:endParaRPr lang="en-US" sz="13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247775" y="4715916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Учет трудозатрат и накладных расходов.</a:t>
            </a:r>
            <a:endParaRPr lang="en-US" sz="13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247775" y="5228332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Финальный расчет и анализ маржинальности.</a:t>
            </a:r>
            <a:endParaRPr lang="en-US" sz="1350" b="0" i="0" u="none" strike="noStrike" cap="none">
              <a:solidFill>
                <a:srgbClr val="475569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37244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423683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474925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526166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Процессы организации</a:t>
            </a:r>
            <a:endParaRPr lang="en-US" sz="3150" b="0" i="0" u="none" strike="noStrike" cap="none">
              <a:solidFill>
                <a:srgbClr val="1E293B"/>
              </a:solidFill>
              <a:latin typeface="Times New Roman" panose="02020603050405020304" charset="0"/>
              <a:ea typeface="Poppins SemiBold" panose="00000500000000000000"/>
              <a:cs typeface="Times New Roman" panose="02020603050405020304" charset="0"/>
              <a:sym typeface="Poppins SemiBold" panose="00000500000000000000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651968"/>
            <a:ext cx="10648950" cy="2962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" name="Google Shape;150;p17"/>
          <p:cNvGraphicFramePr/>
          <p:nvPr/>
        </p:nvGraphicFramePr>
        <p:xfrm>
          <a:off x="781050" y="2661493"/>
          <a:ext cx="10629900" cy="3000000"/>
        </p:xfrm>
        <a:graphic>
          <a:graphicData uri="http://schemas.openxmlformats.org/drawingml/2006/table">
            <a:tbl>
              <a:tblPr firstRow="1" bandRow="1">
                <a:noFill/>
                <a:tableStyleId>{201B84BC-93BE-4C97-86AC-F209B322F11C}</a:tableStyleId>
              </a:tblPr>
              <a:tblGrid>
                <a:gridCol w="2091625"/>
                <a:gridCol w="8538275"/>
              </a:tblGrid>
              <a:tr h="5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Poppins" panose="00000500000000000000"/>
                          <a:cs typeface="Times New Roman" panose="02020603050405020304" charset="0"/>
                          <a:sym typeface="Poppins" panose="00000500000000000000"/>
                        </a:rPr>
                        <a:t>Таблица</a:t>
                      </a:r>
                      <a:endParaRPr lang="en-US" sz="1200" b="1" i="0" u="none" strike="noStrike" cap="none">
                        <a:solidFill>
                          <a:srgbClr val="1E293B"/>
                        </a:solidFill>
                        <a:latin typeface="Times New Roman" panose="02020603050405020304" charset="0"/>
                        <a:ea typeface="Poppins" panose="00000500000000000000"/>
                        <a:cs typeface="Times New Roman" panose="02020603050405020304" charset="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Poppins" panose="00000500000000000000"/>
                          <a:cs typeface="Times New Roman" panose="02020603050405020304" charset="0"/>
                          <a:sym typeface="Poppins" panose="00000500000000000000"/>
                        </a:rPr>
                        <a:t>Описание назначения</a:t>
                      </a:r>
                      <a:endParaRPr lang="en-US" sz="1200" b="1" i="0" u="none" strike="noStrike" cap="none">
                        <a:solidFill>
                          <a:srgbClr val="1E293B"/>
                        </a:solidFill>
                        <a:latin typeface="Times New Roman" panose="02020603050405020304" charset="0"/>
                        <a:ea typeface="Poppins" panose="00000500000000000000"/>
                        <a:cs typeface="Times New Roman" panose="02020603050405020304" charset="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Lato" panose="020F0502020204030203"/>
                          <a:cs typeface="Times New Roman" panose="02020603050405020304" charset="0"/>
                          <a:sym typeface="Lato" panose="020F0502020204030203"/>
                        </a:rPr>
                        <a:t>Материалы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Times New Roman" panose="02020603050405020304" charset="0"/>
                        <a:ea typeface="Lato" panose="020F0502020204030203"/>
                        <a:cs typeface="Times New Roman" panose="02020603050405020304" charset="0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Lato" panose="020F0502020204030203"/>
                          <a:cs typeface="Times New Roman" panose="02020603050405020304" charset="0"/>
                          <a:sym typeface="Lato" panose="020F0502020204030203"/>
                        </a:rPr>
                        <a:t>Справочник используемого сырья, цен и единиц измерения.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Times New Roman" panose="02020603050405020304" charset="0"/>
                        <a:ea typeface="Lato" panose="020F0502020204030203"/>
                        <a:cs typeface="Times New Roman" panose="02020603050405020304" charset="0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Lato" panose="020F0502020204030203"/>
                          <a:cs typeface="Times New Roman" panose="02020603050405020304" charset="0"/>
                          <a:sym typeface="Lato" panose="020F0502020204030203"/>
                        </a:rPr>
                        <a:t>Продукция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Times New Roman" panose="02020603050405020304" charset="0"/>
                        <a:ea typeface="Lato" panose="020F0502020204030203"/>
                        <a:cs typeface="Times New Roman" panose="02020603050405020304" charset="0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Lato" panose="020F0502020204030203"/>
                          <a:cs typeface="Times New Roman" panose="02020603050405020304" charset="0"/>
                          <a:sym typeface="Lato" panose="020F0502020204030203"/>
                        </a:rPr>
                        <a:t>Каталог выпускаемых изделий и итоговых экономических расчетов.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Times New Roman" panose="02020603050405020304" charset="0"/>
                        <a:ea typeface="Lato" panose="020F0502020204030203"/>
                        <a:cs typeface="Times New Roman" panose="02020603050405020304" charset="0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Lato" panose="020F0502020204030203"/>
                          <a:cs typeface="Times New Roman" panose="02020603050405020304" charset="0"/>
                          <a:sym typeface="Lato" panose="020F0502020204030203"/>
                        </a:rPr>
                        <a:t>Состав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Times New Roman" panose="02020603050405020304" charset="0"/>
                        <a:ea typeface="Lato" panose="020F0502020204030203"/>
                        <a:cs typeface="Times New Roman" panose="02020603050405020304" charset="0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Lato" panose="020F0502020204030203"/>
                          <a:cs typeface="Times New Roman" panose="02020603050405020304" charset="0"/>
                          <a:sym typeface="Lato" panose="020F0502020204030203"/>
                        </a:rPr>
                        <a:t>Технологические рецептуры (связь Many-to-Many между продуктом и сырьем).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Times New Roman" panose="02020603050405020304" charset="0"/>
                        <a:ea typeface="Lato" panose="020F0502020204030203"/>
                        <a:cs typeface="Times New Roman" panose="02020603050405020304" charset="0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Lato" panose="020F0502020204030203"/>
                          <a:cs typeface="Times New Roman" panose="02020603050405020304" charset="0"/>
                          <a:sym typeface="Lato" panose="020F0502020204030203"/>
                        </a:rPr>
                        <a:t>Трудозатраты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Times New Roman" panose="02020603050405020304" charset="0"/>
                        <a:ea typeface="Lato" panose="020F0502020204030203"/>
                        <a:cs typeface="Times New Roman" panose="02020603050405020304" charset="0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Lato" panose="020F0502020204030203"/>
                          <a:cs typeface="Times New Roman" panose="02020603050405020304" charset="0"/>
                          <a:sym typeface="Lato" panose="020F0502020204030203"/>
                        </a:rPr>
                        <a:t>Журнал производственных операций и работ по каждому виду продукции.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Times New Roman" panose="02020603050405020304" charset="0"/>
                        <a:ea typeface="Lato" panose="020F0502020204030203"/>
                        <a:cs typeface="Times New Roman" panose="02020603050405020304" charset="0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17"/>
          <p:cNvSpPr/>
          <p:nvPr/>
        </p:nvSpPr>
        <p:spPr>
          <a:xfrm>
            <a:off x="781050" y="3285380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872680" y="3285380"/>
            <a:ext cx="8538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81050" y="386640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872680" y="3866405"/>
            <a:ext cx="8538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81050" y="4447430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872680" y="4447430"/>
            <a:ext cx="8538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81050" y="502845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872680" y="5028455"/>
            <a:ext cx="8538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Структура базы данных</a:t>
            </a:r>
            <a:endParaRPr lang="en-US" sz="3150" b="0" i="0" u="none" strike="noStrike" cap="none">
              <a:solidFill>
                <a:srgbClr val="1E293B"/>
              </a:solidFill>
              <a:latin typeface="Times New Roman" panose="02020603050405020304" charset="0"/>
              <a:ea typeface="Poppins SemiBold" panose="00000500000000000000"/>
              <a:cs typeface="Times New Roman" panose="02020603050405020304" charset="0"/>
              <a:sym typeface="Poppins SemiBold" panose="00000500000000000000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2148791" y="2477244"/>
            <a:ext cx="7894267" cy="8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Times New Roman" panose="02020603050405020304" charset="0"/>
                <a:ea typeface="Lato" panose="020F0502020204030203"/>
                <a:cs typeface="Times New Roman" panose="02020603050405020304" charset="0"/>
                <a:sym typeface="Lato" panose="020F0502020204030203"/>
              </a:rPr>
              <a:t>Спасибо за внимание!</a:t>
            </a:r>
            <a:endParaRPr lang="en-US" sz="5400" b="1" i="0" u="none" strike="noStrike" cap="none">
              <a:solidFill>
                <a:srgbClr val="1E293B"/>
              </a:solidFill>
              <a:latin typeface="Times New Roman" panose="02020603050405020304" charset="0"/>
              <a:ea typeface="Lato" panose="020F0502020204030203"/>
              <a:cs typeface="Times New Roman" panose="02020603050405020304" charset="0"/>
              <a:sym typeface="Lato" panose="020F050202020403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1336</Words>
  <Application>WPS Presentation</Application>
  <PresentationFormat/>
  <Paragraphs>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Poppins</vt:lpstr>
      <vt:lpstr>Lato</vt:lpstr>
      <vt:lpstr>Poppins SemiBold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Кирилл Шепелев</cp:lastModifiedBy>
  <cp:revision>1</cp:revision>
  <dcterms:created xsi:type="dcterms:W3CDTF">2026-04-29T17:53:50Z</dcterms:created>
  <dcterms:modified xsi:type="dcterms:W3CDTF">2026-04-29T17:53:51Z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19638F5C5A6C4CF295882E77FD14F312_12</vt:lpwstr>
  </property>
  <property fmtid="{D5CDD505-2E9C-101B-9397-08002B2CF9AE}" pid="3" name="KSOProductBuildVer">
    <vt:lpwstr>1049-12.1.0.25862</vt:lpwstr>
  </property>
</Properties>
</file>