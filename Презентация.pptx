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000000"/>
          </p15:clr>
        </p15:guide>
        <p15:guide id="2" pos="288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A3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01B84BC-93BE-4C97-86AC-F209B322F11C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6" d="100"/>
          <a:sy n="106" d="100"/>
        </p:scale>
        <p:origin x="756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108596" y="3900338"/>
            <a:ext cx="7974806" cy="1495276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909226" y="1462236"/>
            <a:ext cx="8373546" cy="162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E293B"/>
                </a:solidFill>
                <a:latin typeface="Times New Roman" panose="02020603050405020304" charset="0"/>
                <a:ea typeface="Poppins" panose="00000500000000000000"/>
                <a:cs typeface="Times New Roman" panose="02020603050405020304" charset="0"/>
                <a:sym typeface="Poppins" panose="00000500000000000000"/>
              </a:rPr>
              <a:t>Автоматизация расчета</a:t>
            </a:r>
            <a:br>
              <a:rPr lang="en-US" sz="1800" b="0" i="0" u="none" strike="noStrike" cap="none">
                <a:solidFill>
                  <a:schemeClr val="dk1"/>
                </a:solidFill>
                <a:latin typeface="Times New Roman" panose="02020603050405020304" charset="0"/>
                <a:ea typeface="Calibri" panose="020F0502020204030204"/>
                <a:cs typeface="Times New Roman" panose="02020603050405020304" charset="0"/>
                <a:sym typeface="Calibri" panose="020F0502020204030204"/>
              </a:rPr>
            </a:br>
            <a:r>
              <a:rPr lang="en-US" sz="4800" b="1" i="0" u="none" strike="noStrike" cap="none">
                <a:solidFill>
                  <a:srgbClr val="2563EB"/>
                </a:solidFill>
                <a:latin typeface="Times New Roman" panose="02020603050405020304" charset="0"/>
                <a:ea typeface="Poppins" panose="00000500000000000000"/>
                <a:cs typeface="Times New Roman" panose="02020603050405020304" charset="0"/>
                <a:sym typeface="Poppins" panose="00000500000000000000"/>
              </a:rPr>
              <a:t>себестоимости</a:t>
            </a:r>
            <a:r>
              <a:rPr lang="en-US" sz="4800" b="1" i="0" u="none" strike="noStrike" cap="none">
                <a:solidFill>
                  <a:srgbClr val="1E293B"/>
                </a:solidFill>
                <a:latin typeface="Times New Roman" panose="02020603050405020304" charset="0"/>
                <a:ea typeface="Poppins" panose="00000500000000000000"/>
                <a:cs typeface="Times New Roman" panose="02020603050405020304" charset="0"/>
                <a:sym typeface="Poppins" panose="00000500000000000000"/>
              </a:rPr>
              <a:t> продукции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2108596" y="2993677"/>
            <a:ext cx="7974806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Разработка макета приложения базы данных предприятия</a:t>
            </a:r>
          </a:p>
        </p:txBody>
      </p:sp>
      <p:sp>
        <p:nvSpPr>
          <p:cNvPr id="88" name="Google Shape;88;p13"/>
          <p:cNvSpPr txBox="1"/>
          <p:nvPr/>
        </p:nvSpPr>
        <p:spPr>
          <a:xfrm>
            <a:off x="2108596" y="4367063"/>
            <a:ext cx="3987403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4A3B8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РАЗРАБОТАЛ</a:t>
            </a:r>
          </a:p>
        </p:txBody>
      </p:sp>
      <p:sp>
        <p:nvSpPr>
          <p:cNvPr id="89" name="Google Shape;89;p13"/>
          <p:cNvSpPr txBox="1"/>
          <p:nvPr/>
        </p:nvSpPr>
        <p:spPr>
          <a:xfrm>
            <a:off x="2108596" y="4850903"/>
            <a:ext cx="3987403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Шепелев К. Р., Группа ИП-31</a:t>
            </a:r>
          </a:p>
        </p:txBody>
      </p:sp>
      <p:sp>
        <p:nvSpPr>
          <p:cNvPr id="90" name="Google Shape;90;p13"/>
          <p:cNvSpPr txBox="1"/>
          <p:nvPr/>
        </p:nvSpPr>
        <p:spPr>
          <a:xfrm>
            <a:off x="6096000" y="4367063"/>
            <a:ext cx="3987403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4A3B8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ПРОВЕРИЛ</a:t>
            </a:r>
          </a:p>
        </p:txBody>
      </p:sp>
      <p:sp>
        <p:nvSpPr>
          <p:cNvPr id="91" name="Google Shape;91;p13"/>
          <p:cNvSpPr txBox="1"/>
          <p:nvPr/>
        </p:nvSpPr>
        <p:spPr>
          <a:xfrm>
            <a:off x="6096000" y="4850903"/>
            <a:ext cx="3987403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Назарова И. А.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EED60B-3571-9AAB-CE2C-254F4D0E57CE}"/>
              </a:ext>
            </a:extLst>
          </p:cNvPr>
          <p:cNvSpPr txBox="1"/>
          <p:nvPr/>
        </p:nvSpPr>
        <p:spPr>
          <a:xfrm>
            <a:off x="0" y="104064"/>
            <a:ext cx="12191999" cy="1027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lang="ru-RU" sz="1400" cap="all" dirty="0">
                <a:solidFill>
                  <a:srgbClr val="94A3B8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МИНИСТЕРСТВО ОБРАЗОВАНИЯ САРАТОВСКОЙ ОБЛАСТИ ГОСУДАРСТВЕННОЕ АВТОНОМНОЕ ПРФЕССИОНАЛЬНОЕ</a:t>
            </a:r>
            <a:endParaRPr lang="ru-RU" sz="1100" dirty="0">
              <a:solidFill>
                <a:srgbClr val="94A3B8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  <a:buNone/>
            </a:pPr>
            <a:r>
              <a:rPr lang="ru-RU" sz="1400" cap="all" dirty="0">
                <a:solidFill>
                  <a:srgbClr val="94A3B8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ОБРАЗОВАТЕЛЬНОЕ УЧРЕЖДЕНИЕ САРАТОВСКОЙ ОБЛАСТИ</a:t>
            </a:r>
            <a:endParaRPr lang="ru-RU" sz="1100" dirty="0">
              <a:solidFill>
                <a:srgbClr val="94A3B8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  <a:buNone/>
            </a:pPr>
            <a:r>
              <a:rPr lang="ru-RU" sz="1400" cap="all" dirty="0">
                <a:solidFill>
                  <a:srgbClr val="94A3B8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«БАЛАШОВСКИЙ ТЕХНИКУМ МЕХАНИЗАЦИИ СЕЛЬСКОГО ХОЗЯЙСТВА»</a:t>
            </a:r>
            <a:endParaRPr lang="ru-RU" sz="1100" dirty="0">
              <a:solidFill>
                <a:srgbClr val="94A3B8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CCBC001-6C48-354B-0763-F75996A0629E}"/>
              </a:ext>
            </a:extLst>
          </p:cNvPr>
          <p:cNvSpPr txBox="1">
            <a:spLocks/>
          </p:cNvSpPr>
          <p:nvPr/>
        </p:nvSpPr>
        <p:spPr>
          <a:xfrm>
            <a:off x="2212531" y="6439519"/>
            <a:ext cx="7766936" cy="10968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1200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Балашов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771525" y="2310258"/>
            <a:ext cx="3359050" cy="3645693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4416325" y="2310258"/>
            <a:ext cx="3359199" cy="3645693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8061275" y="2310258"/>
            <a:ext cx="3359050" cy="3645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1097599" y="3472308"/>
            <a:ext cx="2706900" cy="276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293B"/>
                </a:solidFill>
                <a:latin typeface="Times New Roman" panose="02020603050405020304" charset="0"/>
                <a:ea typeface="Poppins" panose="00000500000000000000"/>
                <a:cs typeface="Times New Roman" panose="02020603050405020304" charset="0"/>
                <a:sym typeface="Poppins" panose="00000500000000000000"/>
              </a:rPr>
              <a:t>Цель проекта</a:t>
            </a:r>
          </a:p>
        </p:txBody>
      </p:sp>
      <p:sp>
        <p:nvSpPr>
          <p:cNvPr id="101" name="Google Shape;101;p14"/>
          <p:cNvSpPr txBox="1"/>
          <p:nvPr/>
        </p:nvSpPr>
        <p:spPr>
          <a:xfrm>
            <a:off x="1162050" y="4015233"/>
            <a:ext cx="2578000" cy="1340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Создание системы для автоматизированного учета затрат и расчета себестоимости изделий.</a:t>
            </a:r>
          </a:p>
        </p:txBody>
      </p:sp>
      <p:sp>
        <p:nvSpPr>
          <p:cNvPr id="102" name="Google Shape;102;p14"/>
          <p:cNvSpPr txBox="1"/>
          <p:nvPr/>
        </p:nvSpPr>
        <p:spPr>
          <a:xfrm>
            <a:off x="4742397" y="3472308"/>
            <a:ext cx="2707057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293B"/>
                </a:solidFill>
                <a:latin typeface="Times New Roman" panose="02020603050405020304" charset="0"/>
                <a:ea typeface="Poppins" panose="00000500000000000000"/>
                <a:cs typeface="Times New Roman" panose="02020603050405020304" charset="0"/>
                <a:sym typeface="Poppins" panose="00000500000000000000"/>
              </a:rPr>
              <a:t>Задачи</a:t>
            </a:r>
          </a:p>
        </p:txBody>
      </p:sp>
      <p:sp>
        <p:nvSpPr>
          <p:cNvPr id="103" name="Google Shape;103;p14"/>
          <p:cNvSpPr txBox="1"/>
          <p:nvPr/>
        </p:nvSpPr>
        <p:spPr>
          <a:xfrm>
            <a:off x="4806850" y="4015233"/>
            <a:ext cx="2578149" cy="1340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Проектирование БД, разработка WPF интерфейса и внедрение алгоритмов расчета.</a:t>
            </a:r>
          </a:p>
        </p:txBody>
      </p:sp>
      <p:sp>
        <p:nvSpPr>
          <p:cNvPr id="104" name="Google Shape;104;p14"/>
          <p:cNvSpPr txBox="1"/>
          <p:nvPr/>
        </p:nvSpPr>
        <p:spPr>
          <a:xfrm>
            <a:off x="8387350" y="3472308"/>
            <a:ext cx="27069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293B"/>
                </a:solidFill>
                <a:latin typeface="Times New Roman" panose="02020603050405020304" charset="0"/>
                <a:ea typeface="Poppins" panose="00000500000000000000"/>
                <a:cs typeface="Times New Roman" panose="02020603050405020304" charset="0"/>
                <a:sym typeface="Poppins" panose="00000500000000000000"/>
              </a:rPr>
              <a:t>Надежность</a:t>
            </a:r>
          </a:p>
        </p:txBody>
      </p:sp>
      <p:sp>
        <p:nvSpPr>
          <p:cNvPr id="105" name="Google Shape;105;p14"/>
          <p:cNvSpPr txBox="1"/>
          <p:nvPr/>
        </p:nvSpPr>
        <p:spPr>
          <a:xfrm>
            <a:off x="8451800" y="4015233"/>
            <a:ext cx="2578000" cy="1340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Обеспечение защиты данных и строгой ссылочной целостности всех таблиц.</a:t>
            </a:r>
          </a:p>
        </p:txBody>
      </p:sp>
      <p:pic>
        <p:nvPicPr>
          <p:cNvPr id="106" name="Google Shape;106;p14" descr="image.png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2222450" y="2748408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4" descr="image.png"/>
          <p:cNvPicPr preferRelativeResize="0"/>
          <p:nvPr/>
        </p:nvPicPr>
        <p:blipFill rotWithShape="1">
          <a:blip r:embed="rId8"/>
          <a:srcRect/>
          <a:stretch>
            <a:fillRect/>
          </a:stretch>
        </p:blipFill>
        <p:spPr>
          <a:xfrm>
            <a:off x="5810101" y="2748408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4" descr="image.png"/>
          <p:cNvPicPr preferRelativeResize="0"/>
          <p:nvPr/>
        </p:nvPicPr>
        <p:blipFill rotWithShape="1">
          <a:blip r:embed="rId9"/>
          <a:srcRect/>
          <a:stretch>
            <a:fillRect/>
          </a:stretch>
        </p:blipFill>
        <p:spPr>
          <a:xfrm>
            <a:off x="9512200" y="274840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009650" y="913060"/>
            <a:ext cx="10931366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E293B"/>
                </a:solidFill>
                <a:latin typeface="Times New Roman" panose="02020603050405020304" charset="0"/>
                <a:ea typeface="Poppins SemiBold" panose="00000500000000000000"/>
                <a:cs typeface="Times New Roman" panose="02020603050405020304" charset="0"/>
                <a:sym typeface="Poppins SemiBold" panose="00000500000000000000"/>
              </a:rPr>
              <a:t>Цели и задачи проекта</a:t>
            </a:r>
          </a:p>
        </p:txBody>
      </p:sp>
      <p:sp>
        <p:nvSpPr>
          <p:cNvPr id="110" name="Google Shape;110;p14"/>
          <p:cNvSpPr/>
          <p:nvPr/>
        </p:nvSpPr>
        <p:spPr>
          <a:xfrm>
            <a:off x="771525" y="913060"/>
            <a:ext cx="57150" cy="60007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5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1247775" y="2986533"/>
            <a:ext cx="10172700" cy="405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Исключение ошибок ручного счета в сложных многокомпонентных рецептурах.</a:t>
            </a:r>
          </a:p>
        </p:txBody>
      </p:sp>
      <p:sp>
        <p:nvSpPr>
          <p:cNvPr id="117" name="Google Shape;117;p15"/>
          <p:cNvSpPr txBox="1"/>
          <p:nvPr/>
        </p:nvSpPr>
        <p:spPr>
          <a:xfrm>
            <a:off x="1247775" y="3559819"/>
            <a:ext cx="101727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Мгновенный пересчет цен всей линейки товаров при изменении стоимости сырья.</a:t>
            </a:r>
          </a:p>
        </p:txBody>
      </p:sp>
      <p:sp>
        <p:nvSpPr>
          <p:cNvPr id="118" name="Google Shape;118;p15"/>
          <p:cNvSpPr txBox="1"/>
          <p:nvPr/>
        </p:nvSpPr>
        <p:spPr>
          <a:xfrm>
            <a:off x="1247775" y="4133105"/>
            <a:ext cx="101727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Централизованное хранение всех технологических карт и спецификаций в единой базе.</a:t>
            </a:r>
          </a:p>
        </p:txBody>
      </p:sp>
      <p:sp>
        <p:nvSpPr>
          <p:cNvPr id="119" name="Google Shape;119;p15"/>
          <p:cNvSpPr txBox="1"/>
          <p:nvPr/>
        </p:nvSpPr>
        <p:spPr>
          <a:xfrm>
            <a:off x="1247775" y="4706391"/>
            <a:ext cx="101727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Повышение прозрачности ценообразования для руководства предприятия.</a:t>
            </a:r>
          </a:p>
        </p:txBody>
      </p:sp>
      <p:pic>
        <p:nvPicPr>
          <p:cNvPr id="120" name="Google Shape;120;p15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771525" y="3019871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771525" y="3593157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5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771525" y="4166443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5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771525" y="4739729"/>
            <a:ext cx="26670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5"/>
          <p:cNvSpPr txBox="1"/>
          <p:nvPr/>
        </p:nvSpPr>
        <p:spPr>
          <a:xfrm>
            <a:off x="1009650" y="913060"/>
            <a:ext cx="10931366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E293B"/>
                </a:solidFill>
                <a:latin typeface="Times New Roman" panose="02020603050405020304" charset="0"/>
                <a:ea typeface="Poppins SemiBold" panose="00000500000000000000"/>
                <a:cs typeface="Times New Roman" panose="02020603050405020304" charset="0"/>
                <a:sym typeface="Poppins SemiBold" panose="00000500000000000000"/>
              </a:rPr>
              <a:t>Актуальность проекта</a:t>
            </a:r>
          </a:p>
        </p:txBody>
      </p:sp>
      <p:sp>
        <p:nvSpPr>
          <p:cNvPr id="125" name="Google Shape;125;p15"/>
          <p:cNvSpPr/>
          <p:nvPr/>
        </p:nvSpPr>
        <p:spPr>
          <a:xfrm>
            <a:off x="771525" y="913060"/>
            <a:ext cx="57150" cy="60007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6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381750" y="2228105"/>
            <a:ext cx="503872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6"/>
          <p:cNvSpPr txBox="1"/>
          <p:nvPr/>
        </p:nvSpPr>
        <p:spPr>
          <a:xfrm>
            <a:off x="771525" y="2735014"/>
            <a:ext cx="5038725" cy="811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Автоматизация охватывает полный цикл производственного учета:</a:t>
            </a:r>
          </a:p>
        </p:txBody>
      </p:sp>
      <p:pic>
        <p:nvPicPr>
          <p:cNvPr id="133" name="Google Shape;133;p16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6391275" y="2237630"/>
            <a:ext cx="501967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1247775" y="3691086"/>
            <a:ext cx="45624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Регистрация сырья и мониторинг цен.</a:t>
            </a:r>
          </a:p>
        </p:txBody>
      </p:sp>
      <p:sp>
        <p:nvSpPr>
          <p:cNvPr id="135" name="Google Shape;135;p16"/>
          <p:cNvSpPr txBox="1"/>
          <p:nvPr/>
        </p:nvSpPr>
        <p:spPr>
          <a:xfrm>
            <a:off x="1247775" y="4203501"/>
            <a:ext cx="45624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Формирование состава продукции.</a:t>
            </a:r>
          </a:p>
        </p:txBody>
      </p:sp>
      <p:sp>
        <p:nvSpPr>
          <p:cNvPr id="136" name="Google Shape;136;p16"/>
          <p:cNvSpPr txBox="1"/>
          <p:nvPr/>
        </p:nvSpPr>
        <p:spPr>
          <a:xfrm>
            <a:off x="1247775" y="4715916"/>
            <a:ext cx="45624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Учет трудозатрат и накладных расходов.</a:t>
            </a:r>
          </a:p>
        </p:txBody>
      </p:sp>
      <p:sp>
        <p:nvSpPr>
          <p:cNvPr id="137" name="Google Shape;137;p16"/>
          <p:cNvSpPr txBox="1"/>
          <p:nvPr/>
        </p:nvSpPr>
        <p:spPr>
          <a:xfrm>
            <a:off x="1247775" y="5228332"/>
            <a:ext cx="45624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Финальный расчет и анализ маржинальности.</a:t>
            </a:r>
          </a:p>
        </p:txBody>
      </p:sp>
      <p:pic>
        <p:nvPicPr>
          <p:cNvPr id="138" name="Google Shape;138;p16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771525" y="3724423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771525" y="4236839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6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771525" y="4749254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771525" y="5261669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1009650" y="913060"/>
            <a:ext cx="10931366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E293B"/>
                </a:solidFill>
                <a:latin typeface="Times New Roman" panose="02020603050405020304" charset="0"/>
                <a:ea typeface="Poppins SemiBold" panose="00000500000000000000"/>
                <a:cs typeface="Times New Roman" panose="02020603050405020304" charset="0"/>
                <a:sym typeface="Poppins SemiBold" panose="00000500000000000000"/>
              </a:rPr>
              <a:t>Процессы организации</a:t>
            </a:r>
          </a:p>
        </p:txBody>
      </p:sp>
      <p:sp>
        <p:nvSpPr>
          <p:cNvPr id="143" name="Google Shape;143;p16"/>
          <p:cNvSpPr/>
          <p:nvPr/>
        </p:nvSpPr>
        <p:spPr>
          <a:xfrm>
            <a:off x="771525" y="913060"/>
            <a:ext cx="57150" cy="60007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17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7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771525" y="2651968"/>
            <a:ext cx="10648950" cy="29622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0" name="Google Shape;150;p17"/>
          <p:cNvGraphicFramePr/>
          <p:nvPr/>
        </p:nvGraphicFramePr>
        <p:xfrm>
          <a:off x="781050" y="2661493"/>
          <a:ext cx="10629900" cy="3000000"/>
        </p:xfrm>
        <a:graphic>
          <a:graphicData uri="http://schemas.openxmlformats.org/drawingml/2006/table">
            <a:tbl>
              <a:tblPr firstRow="1" bandRow="1">
                <a:noFill/>
                <a:tableStyleId>{201B84BC-93BE-4C97-86AC-F209B322F11C}</a:tableStyleId>
              </a:tblPr>
              <a:tblGrid>
                <a:gridCol w="209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8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1E293B"/>
                          </a:solidFill>
                          <a:latin typeface="Times New Roman" panose="02020603050405020304" charset="0"/>
                          <a:ea typeface="Poppins" panose="00000500000000000000"/>
                          <a:cs typeface="Times New Roman" panose="02020603050405020304" charset="0"/>
                          <a:sym typeface="Poppins" panose="00000500000000000000"/>
                        </a:rPr>
                        <a:t>Таблица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1E293B"/>
                          </a:solidFill>
                          <a:latin typeface="Times New Roman" panose="02020603050405020304" charset="0"/>
                          <a:ea typeface="Poppins" panose="00000500000000000000"/>
                          <a:cs typeface="Times New Roman" panose="02020603050405020304" charset="0"/>
                          <a:sym typeface="Poppins" panose="00000500000000000000"/>
                        </a:rPr>
                        <a:t>Описание назначения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Times New Roman" panose="02020603050405020304" charset="0"/>
                          <a:ea typeface="Lato" panose="020F0502020204030203"/>
                          <a:cs typeface="Times New Roman" panose="02020603050405020304" charset="0"/>
                          <a:sym typeface="Lato" panose="020F0502020204030203"/>
                        </a:rPr>
                        <a:t>Материалы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Times New Roman" panose="02020603050405020304" charset="0"/>
                          <a:ea typeface="Lato" panose="020F0502020204030203"/>
                          <a:cs typeface="Times New Roman" panose="02020603050405020304" charset="0"/>
                          <a:sym typeface="Lato" panose="020F0502020204030203"/>
                        </a:rPr>
                        <a:t>Справочник используемого сырья, цен и единиц измерения.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Times New Roman" panose="02020603050405020304" charset="0"/>
                          <a:ea typeface="Lato" panose="020F0502020204030203"/>
                          <a:cs typeface="Times New Roman" panose="02020603050405020304" charset="0"/>
                          <a:sym typeface="Lato" panose="020F0502020204030203"/>
                        </a:rPr>
                        <a:t>Продукция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Times New Roman" panose="02020603050405020304" charset="0"/>
                          <a:ea typeface="Lato" panose="020F0502020204030203"/>
                          <a:cs typeface="Times New Roman" panose="02020603050405020304" charset="0"/>
                          <a:sym typeface="Lato" panose="020F0502020204030203"/>
                        </a:rPr>
                        <a:t>Каталог выпускаемых изделий и итоговых экономических расчетов.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Times New Roman" panose="02020603050405020304" charset="0"/>
                          <a:ea typeface="Lato" panose="020F0502020204030203"/>
                          <a:cs typeface="Times New Roman" panose="02020603050405020304" charset="0"/>
                          <a:sym typeface="Lato" panose="020F0502020204030203"/>
                        </a:rPr>
                        <a:t>Состав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Times New Roman" panose="02020603050405020304" charset="0"/>
                          <a:ea typeface="Lato" panose="020F0502020204030203"/>
                          <a:cs typeface="Times New Roman" panose="02020603050405020304" charset="0"/>
                          <a:sym typeface="Lato" panose="020F0502020204030203"/>
                        </a:rPr>
                        <a:t>Технологические рецептуры (связь Many-to-Many между продуктом и сырьем).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Times New Roman" panose="02020603050405020304" charset="0"/>
                          <a:ea typeface="Lato" panose="020F0502020204030203"/>
                          <a:cs typeface="Times New Roman" panose="02020603050405020304" charset="0"/>
                          <a:sym typeface="Lato" panose="020F0502020204030203"/>
                        </a:rPr>
                        <a:t>Трудозатраты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Times New Roman" panose="02020603050405020304" charset="0"/>
                          <a:ea typeface="Lato" panose="020F0502020204030203"/>
                          <a:cs typeface="Times New Roman" panose="02020603050405020304" charset="0"/>
                          <a:sym typeface="Lato" panose="020F0502020204030203"/>
                        </a:rPr>
                        <a:t>Журнал производственных операций и работ по каждому виду продукции.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1" name="Google Shape;151;p17"/>
          <p:cNvSpPr/>
          <p:nvPr/>
        </p:nvSpPr>
        <p:spPr>
          <a:xfrm>
            <a:off x="781050" y="3285380"/>
            <a:ext cx="20916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2872680" y="3285380"/>
            <a:ext cx="853826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781050" y="3866405"/>
            <a:ext cx="20916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2872680" y="3866405"/>
            <a:ext cx="853826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781050" y="4447430"/>
            <a:ext cx="20916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2872680" y="4447430"/>
            <a:ext cx="853826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781050" y="5028455"/>
            <a:ext cx="20916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2872680" y="5028455"/>
            <a:ext cx="853826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1009650" y="913060"/>
            <a:ext cx="10931366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E293B"/>
                </a:solidFill>
                <a:latin typeface="Times New Roman" panose="02020603050405020304" charset="0"/>
                <a:ea typeface="Poppins SemiBold" panose="00000500000000000000"/>
                <a:cs typeface="Times New Roman" panose="02020603050405020304" charset="0"/>
                <a:sym typeface="Poppins SemiBold" panose="00000500000000000000"/>
              </a:rPr>
              <a:t>Структура базы данных</a:t>
            </a:r>
          </a:p>
        </p:txBody>
      </p:sp>
      <p:sp>
        <p:nvSpPr>
          <p:cNvPr id="160" name="Google Shape;160;p17"/>
          <p:cNvSpPr/>
          <p:nvPr/>
        </p:nvSpPr>
        <p:spPr>
          <a:xfrm>
            <a:off x="771525" y="913060"/>
            <a:ext cx="57150" cy="60007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18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 txBox="1"/>
          <p:nvPr/>
        </p:nvSpPr>
        <p:spPr>
          <a:xfrm>
            <a:off x="2148791" y="2477244"/>
            <a:ext cx="7894267" cy="83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1E293B"/>
                </a:solidFill>
                <a:latin typeface="Times New Roman" panose="02020603050405020304" charset="0"/>
                <a:ea typeface="Lato" panose="020F0502020204030203"/>
                <a:cs typeface="Times New Roman" panose="02020603050405020304" charset="0"/>
                <a:sym typeface="Lato" panose="020F0502020204030203"/>
              </a:rP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207</Words>
  <Application>Microsoft Office PowerPoint</Application>
  <PresentationFormat>Широкоэкранный</PresentationFormat>
  <Paragraphs>40</Paragraphs>
  <Slides>6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Times New Roman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ГАПОУ СО БТМСХ</cp:lastModifiedBy>
  <cp:revision>2</cp:revision>
  <dcterms:created xsi:type="dcterms:W3CDTF">2026-04-29T17:53:50Z</dcterms:created>
  <dcterms:modified xsi:type="dcterms:W3CDTF">2026-04-30T08:39:21Z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19638F5C5A6C4CF295882E77FD14F312_12</vt:lpwstr>
  </property>
  <property fmtid="{D5CDD505-2E9C-101B-9397-08002B2CF9AE}" pid="3" name="KSOProductBuildVer">
    <vt:lpwstr>1049-12.1.0.25862</vt:lpwstr>
  </property>
</Properties>
</file>