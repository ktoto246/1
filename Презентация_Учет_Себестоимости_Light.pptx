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6858000" cx="12192000"/>
  <p:notesSz cx="6858000" cy="9144000"/>
  <p:embeddedFontLst>
    <p:embeddedFont>
      <p:font typeface="Poppins"/>
      <p:regular r:id="rId14"/>
      <p:bold r:id="rId15"/>
      <p:italic r:id="rId16"/>
      <p:boldItalic r:id="rId17"/>
    </p:embeddedFont>
    <p:embeddedFont>
      <p:font typeface="Lato"/>
      <p:regular r:id="rId18"/>
      <p:bold r:id="rId19"/>
      <p:italic r:id="rId20"/>
      <p:boldItalic r:id="rId21"/>
    </p:embeddedFont>
    <p:embeddedFont>
      <p:font typeface="Poppins SemiBold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01B84BC-93BE-4C97-86AC-F209B322F11C}">
  <a:tblStyle styleId="{201B84BC-93BE-4C97-86AC-F209B322F11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italic.fntdata"/><Relationship Id="rId22" Type="http://schemas.openxmlformats.org/officeDocument/2006/relationships/font" Target="fonts/PoppinsSemiBold-regular.fntdata"/><Relationship Id="rId21" Type="http://schemas.openxmlformats.org/officeDocument/2006/relationships/font" Target="fonts/Lato-boldItalic.fntdata"/><Relationship Id="rId24" Type="http://schemas.openxmlformats.org/officeDocument/2006/relationships/font" Target="fonts/PoppinsSemiBold-italic.fntdata"/><Relationship Id="rId23" Type="http://schemas.openxmlformats.org/officeDocument/2006/relationships/font" Target="fonts/PoppinsSemiBold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schemas.openxmlformats.org/officeDocument/2006/relationships/font" Target="fonts/PoppinsSemiBold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font" Target="fonts/Poppins-bold.fntdata"/><Relationship Id="rId14" Type="http://schemas.openxmlformats.org/officeDocument/2006/relationships/font" Target="fonts/Poppins-regular.fntdata"/><Relationship Id="rId17" Type="http://schemas.openxmlformats.org/officeDocument/2006/relationships/font" Target="fonts/Poppins-boldItalic.fntdata"/><Relationship Id="rId16" Type="http://schemas.openxmlformats.org/officeDocument/2006/relationships/font" Target="fonts/Poppins-italic.fntdata"/><Relationship Id="rId19" Type="http://schemas.openxmlformats.org/officeDocument/2006/relationships/font" Target="fonts/Lato-bold.fntdata"/><Relationship Id="rId18" Type="http://schemas.openxmlformats.org/officeDocument/2006/relationships/font" Target="fonts/La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9" Type="http://schemas.openxmlformats.org/officeDocument/2006/relationships/image" Target="../media/image1.png"/><Relationship Id="rId5" Type="http://schemas.openxmlformats.org/officeDocument/2006/relationships/image" Target="../media/image10.png"/><Relationship Id="rId6" Type="http://schemas.openxmlformats.org/officeDocument/2006/relationships/image" Target="../media/image3.png"/><Relationship Id="rId7" Type="http://schemas.openxmlformats.org/officeDocument/2006/relationships/image" Target="../media/image13.png"/><Relationship Id="rId8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14.png"/><Relationship Id="rId5" Type="http://schemas.openxmlformats.org/officeDocument/2006/relationships/image" Target="../media/image7.png"/><Relationship Id="rId6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08596" y="3900338"/>
            <a:ext cx="7974806" cy="1495276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909226" y="1462236"/>
            <a:ext cx="8373546" cy="1340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Автоматизация расчета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себестоимости</a:t>
            </a:r>
            <a:r>
              <a:rPr b="1" i="0" lang="en-US" sz="4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 продукции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108596" y="2993677"/>
            <a:ext cx="7974806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Разработка макета приложения базы данных предприятия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108596" y="4367063"/>
            <a:ext cx="3987403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РАЗРАБОТАЛ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2108596" y="4850903"/>
            <a:ext cx="3987403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Шепелев К. Р., Группа ИП-31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6096000" y="4367063"/>
            <a:ext cx="3987403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ПРОВЕРИЛ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6096000" y="4850903"/>
            <a:ext cx="3987403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Назарова И. А.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6" name="Google Shape;9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310258"/>
            <a:ext cx="3359050" cy="36456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6325" y="2310258"/>
            <a:ext cx="3359199" cy="36456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1275" y="2310258"/>
            <a:ext cx="3359050" cy="3645693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1097599" y="3472308"/>
            <a:ext cx="27069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Цель проекта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162050" y="4015233"/>
            <a:ext cx="2578000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Создание системы для автоматизированного учета затрат и расчета себестоимости изделий.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4742397" y="3472308"/>
            <a:ext cx="270705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Задачи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4806850" y="4015233"/>
            <a:ext cx="2578149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Проектирование БД, разработка WPF интерфейса и внедрение алгоритмов расчета.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8387350" y="3472308"/>
            <a:ext cx="27069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Надежность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8451800" y="4015233"/>
            <a:ext cx="2578000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Обеспечение защиты данных и строгой ссылочной целостности всех таблиц.</a:t>
            </a:r>
            <a:endParaRPr/>
          </a:p>
        </p:txBody>
      </p:sp>
      <p:pic>
        <p:nvPicPr>
          <p:cNvPr descr="image.png" id="106" name="Google Shape;106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222450" y="274840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101" y="2748408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12200" y="274840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1009650" y="913060"/>
            <a:ext cx="10931366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Цели и задачи проекта</a:t>
            </a:r>
            <a:endParaRPr/>
          </a:p>
        </p:txBody>
      </p:sp>
      <p:sp>
        <p:nvSpPr>
          <p:cNvPr id="110" name="Google Shape;110;p14"/>
          <p:cNvSpPr/>
          <p:nvPr/>
        </p:nvSpPr>
        <p:spPr>
          <a:xfrm>
            <a:off x="771525" y="913060"/>
            <a:ext cx="57150" cy="6000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5" name="Google Shape;11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1247775" y="2986533"/>
            <a:ext cx="101727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Исключение ошибок ручного счета в сложных многокомпонентных рецептурах.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1247775" y="3559819"/>
            <a:ext cx="101727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Мгновенный пересчет цен всей линейки товаров при изменении стоимости сырья.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1247775" y="4133105"/>
            <a:ext cx="101727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Централизованное хранение всех технологических карт и спецификаций в единой базе.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1247775" y="4706391"/>
            <a:ext cx="101727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Повышение прозрачности ценообразования для руководства предприятия.</a:t>
            </a:r>
            <a:endParaRPr/>
          </a:p>
        </p:txBody>
      </p:sp>
      <p:pic>
        <p:nvPicPr>
          <p:cNvPr descr="image.png" id="120" name="Google Shape;12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3019871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3593157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4166443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4739729"/>
            <a:ext cx="2667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/>
        </p:nvSpPr>
        <p:spPr>
          <a:xfrm>
            <a:off x="1009650" y="913060"/>
            <a:ext cx="10931366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Актуальность проекта</a:t>
            </a:r>
            <a:endParaRPr/>
          </a:p>
        </p:txBody>
      </p:sp>
      <p:sp>
        <p:nvSpPr>
          <p:cNvPr id="125" name="Google Shape;125;p15"/>
          <p:cNvSpPr/>
          <p:nvPr/>
        </p:nvSpPr>
        <p:spPr>
          <a:xfrm>
            <a:off x="771525" y="913060"/>
            <a:ext cx="57150" cy="6000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0" name="Google Shape;13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228105"/>
            <a:ext cx="50387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771525" y="2735014"/>
            <a:ext cx="503872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Автоматизация охватывает полный цикл производственного учета:</a:t>
            </a:r>
            <a:endParaRPr/>
          </a:p>
        </p:txBody>
      </p:sp>
      <p:pic>
        <p:nvPicPr>
          <p:cNvPr descr="image.png" id="133" name="Google Shape;13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2237630"/>
            <a:ext cx="501967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1247775" y="3691086"/>
            <a:ext cx="45624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Регистрация сырья и мониторинг цен.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1247775" y="4203501"/>
            <a:ext cx="45624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Формирование состава продукции.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1247775" y="4715916"/>
            <a:ext cx="45624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Учет трудозатрат и накладных расходов.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1247775" y="5228332"/>
            <a:ext cx="45624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Финальный расчет и анализ маржинальности.</a:t>
            </a:r>
            <a:endParaRPr/>
          </a:p>
        </p:txBody>
      </p:sp>
      <p:pic>
        <p:nvPicPr>
          <p:cNvPr descr="image.png" id="138" name="Google Shape;13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3724423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4236839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4749254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5261669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6"/>
          <p:cNvSpPr txBox="1"/>
          <p:nvPr/>
        </p:nvSpPr>
        <p:spPr>
          <a:xfrm>
            <a:off x="1009650" y="913060"/>
            <a:ext cx="10931366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Процессы организации</a:t>
            </a:r>
            <a:endParaRPr/>
          </a:p>
        </p:txBody>
      </p:sp>
      <p:sp>
        <p:nvSpPr>
          <p:cNvPr id="143" name="Google Shape;143;p16"/>
          <p:cNvSpPr/>
          <p:nvPr/>
        </p:nvSpPr>
        <p:spPr>
          <a:xfrm>
            <a:off x="771525" y="913060"/>
            <a:ext cx="57150" cy="6000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8" name="Google Shape;14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651968"/>
            <a:ext cx="10648950" cy="29622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0" name="Google Shape;150;p17"/>
          <p:cNvGraphicFramePr/>
          <p:nvPr/>
        </p:nvGraphicFramePr>
        <p:xfrm>
          <a:off x="781050" y="266149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{201B84BC-93BE-4C97-86AC-F209B322F11C}</a:tableStyleId>
              </a:tblPr>
              <a:tblGrid>
                <a:gridCol w="2091625"/>
                <a:gridCol w="8538275"/>
              </a:tblGrid>
              <a:tr h="58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Таблица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Описание назначения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8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Материалы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Справочник используемого сырья, цен и единиц измерения.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Продукция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Каталог выпускаемых изделий и итоговых экономических расчетов.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Состав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Технологические рецептуры (связь Many-to-Many между продуктом и сырьем).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Трудозатраты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Журнал производственных операций и работ по каждому виду продукции.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1" name="Google Shape;151;p17"/>
          <p:cNvSpPr/>
          <p:nvPr/>
        </p:nvSpPr>
        <p:spPr>
          <a:xfrm>
            <a:off x="781050" y="3285380"/>
            <a:ext cx="20916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2872680" y="3285380"/>
            <a:ext cx="853826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781050" y="3866405"/>
            <a:ext cx="20916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2872680" y="3866405"/>
            <a:ext cx="853826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781050" y="4447430"/>
            <a:ext cx="20916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2872680" y="4447430"/>
            <a:ext cx="853826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/>
          <p:nvPr/>
        </p:nvSpPr>
        <p:spPr>
          <a:xfrm>
            <a:off x="781050" y="5028455"/>
            <a:ext cx="20916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7"/>
          <p:cNvSpPr/>
          <p:nvPr/>
        </p:nvSpPr>
        <p:spPr>
          <a:xfrm>
            <a:off x="2872680" y="5028455"/>
            <a:ext cx="853826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 txBox="1"/>
          <p:nvPr/>
        </p:nvSpPr>
        <p:spPr>
          <a:xfrm>
            <a:off x="1009650" y="913060"/>
            <a:ext cx="10931366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Структура базы данных</a:t>
            </a:r>
            <a:endParaRPr/>
          </a:p>
        </p:txBody>
      </p:sp>
      <p:sp>
        <p:nvSpPr>
          <p:cNvPr id="160" name="Google Shape;160;p17"/>
          <p:cNvSpPr/>
          <p:nvPr/>
        </p:nvSpPr>
        <p:spPr>
          <a:xfrm>
            <a:off x="771525" y="913060"/>
            <a:ext cx="57150" cy="6000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5" name="Google Shape;16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 txBox="1"/>
          <p:nvPr/>
        </p:nvSpPr>
        <p:spPr>
          <a:xfrm>
            <a:off x="2148791" y="2477244"/>
            <a:ext cx="7894267" cy="828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Спасибо за внимание!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2336750" y="3553569"/>
            <a:ext cx="751835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2563EB"/>
                </a:solidFill>
                <a:latin typeface="Lato"/>
                <a:ea typeface="Lato"/>
                <a:cs typeface="Lato"/>
                <a:sym typeface="Lato"/>
              </a:rPr>
              <a:t>Проект успешно реализован и готов к защите.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2336750" y="4711749"/>
            <a:ext cx="75183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Г. БАЛАШОВ, 2026 Г.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3" name="Google Shape;17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389498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 txBox="1"/>
          <p:nvPr/>
        </p:nvSpPr>
        <p:spPr>
          <a:xfrm>
            <a:off x="1866900" y="3888432"/>
            <a:ext cx="9553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https://png.pngtree.com/png-clipart/20240428/original/pngtree-factory-production-process-infographic-png-image_14964028.png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1866900" y="4134147"/>
            <a:ext cx="9553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pngtree.com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1009650" y="913060"/>
            <a:ext cx="10931366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Image Sources</a:t>
            </a:r>
            <a:endParaRPr/>
          </a:p>
        </p:txBody>
      </p:sp>
      <p:sp>
        <p:nvSpPr>
          <p:cNvPr id="178" name="Google Shape;178;p19"/>
          <p:cNvSpPr/>
          <p:nvPr/>
        </p:nvSpPr>
        <p:spPr>
          <a:xfrm>
            <a:off x="771525" y="913060"/>
            <a:ext cx="57150" cy="6000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